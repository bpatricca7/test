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PRESENT STATE. Talk track: the frontier is currently defined by two flagship families shipped weeks apart in summer 2026. OpenAI GPT-5.6 (July 9, 2026): three variants - Luna (speed), Terra (balance), Sol (most capable). OpenAI positions it for enterprise work, coding, science, and cybersecurity ('strongest cybersecurity model yet', defensive focus); Sam Altman cited Sol as 54% more token-efficient on coding. Anthropic Claude Fable 5 (announced June 9, 2026): first 'Mythos-class' model. Fable 5 and Mythos 5 share the same underlying model; Fable 5 is broadly available with added safeguards in high-risk areas (cyber, bio), Mythos 5 is restricted to trusted cyberdefense/infrastructure partners. Anthropic cites &gt;10% over Claude Opus 4.8 on some benchmarks. Pricing $10/$50 per M tokens. Note: US export controls on Fable 5/Mythos 5 were lifted June 30, 2026 (CNBC) - mention only if asked. NAME RESOLUTION: the transcript word 'Fable' maps to a real model (Claude Fable 5) - confirmed via Anthropic/CNBC coverage; no placeholder needed. CAVEAT to say out loud: everything on this slide is about capability and access; neither lab discloses parameter counts - that is slide 2's subject. Sources: openai.com/index/previewing-gpt-5-6-sol; techcrunch.com/2026/07/09/openai-launches-its-new-family-of-models-with-gpt-5-6; cnbc.com/2026/07/08 (GPT-5.6 public release); cnbc.com/2026/06/09/anthropic-mythos-claude-fable-5.html; anthropic.com/news/claude-fable-5-mythos-5.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SCALE TRAJECTORY (the chart the room will remember). Window starts at the ChatGPT era per review feedback. How to walk it: bottom-left, GPT-3.5 (the ChatGPT launch model, Nov 2022) at ~175B est. - OpenAI never published a GPT-3.5 count, but it descends from GPT-3 (175B, disclosed 2020); its cheaper turbo variants were likely far smaller (a ~20B figure in a Microsoft paper was later retracted). Nearly every point in this window is hollow - a third-party estimate with a range bar. Teal = OpenAI: GPT-4 ~1.8T total (SemiAnalysis leak; MoE, ~280B active per token), GPT-4o ~200B est., GPT-4.5 ~4-5T est., GPT-5 ~3-5T est. Orange = Anthropic: RL-CAI 52B (disclosed in their research papers, Dec 2022 - the one filled dot), Claude 2 ~130B est., Claude 3 Opus ~2T est. (LifeArchitect), Claude 3.5 Sonnet ~400B est. (Epoch AI), Claude Opus 4.6 ~5T est. (third-party analysis; Musk claimed 5T), Claude Fable 5 ~10T widely cited but unconfirmed (dashed). Off-chart context if asked: the longer arc from GPT-1 (117M, 2018) to today's est. ~5T is roughly 40,000x in eight years. KEY BEATS: (1) ~30x total-capacity growth in under four years using mid estimates (GPT-3.5 ~175B, late 2022 -&gt; ~5T, 2026). (2) The 2024 dip is real and matters: both labs shipped smaller, cheaper frontier models (GPT-4o ~200B, 3.5 Sonnet ~400B) - scale is NOT monotonic; efficiency generations alternate with scale generations. (3) GPT-5.6: no credible size estimate exists yet - we show a dashed '?' range rather than invent one. (4) The violet band is OUR scenario (8-10T next-gen), not a forecast - note on log scale it is a small step above the rumored ~10T Mythos-class. HONESTY DETAILS if asked: ranges reflect the spread of published estimates, not lab guidance; Fable 5 and GPT-5.6 markers are nudged ~3 weeks apart horizontally so their range bars don't overlap (true dates Jun 9 / Jul 9, 2026); 'total capacity' counts all MoE experts - active-per-token counts are ~5-10x lower; independent Epoch analysis argues frontier models got SMALLER in 2023-24 before re-scaling. Sources: epoch.ai/gradient-updates/frontier-language-models-have-become-much-smaller; epoch.ai/publications/training-compute-of-frontier-ai-models-grows-by-4-5x-per-year; SemiAnalysis GPT-4 architecture report (Jul 2023); lifearchitect.ai (Claude estimates); press reports for GPT-4.5/GPT-5/Opus 4.6/Fable 5 figures.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NEXT-GENERATION SCENARIO. Framing discipline: the 8-10T figure is OUR planning assumption (from the sponsor's expectation), not an authoritative forecast - say that explicitly; the chip on the slide says it too. What is verified: Epoch AI's compute trend (x4-5/yr, decade-long, judged feasible through 2030 at &gt;5 GW); 2026 frontier training runs at 1e26-1e27 FLOPs costing $200-500M; third-party size estimates roughly doubling per generation since 2023. What is not: any specific next-gen parameter count (labs don't disclose); whether the capability leap materializes - recent gains lean on post-training RL and test-time compute, so capability may decouple from raw size; and note the twist that if the unconfirmed ~10T Mythos-class figures are right, 8-10T of total capacity may already be deployed - which makes the interesting question 'what does the next 2x buy?' rather than 'when do we hit 10T?'. Anticipated exec questions: (1) Why a range, not a number? Because every input is an estimate range. (2) Does 2x parameters mean 2x capability? No - historically capability tracked compute and data more than parameter count alone, and MoE routing changes what 'size' means. (3) What would confirm the scenario? Disclosed counts (unlikely), credible technical leaks, or Epoch-style inference-cost analyses converging. Suggested next iteration: add a capability-benchmark overlay (e.g., SWE-bench / GPQA over time) to pair the scale story with a capability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lIns="0" tIns="0" rIns="0" bIns="0" rtlCol="0" anchor="ctr"/>
          <a:lstStyle/>
          <a:p>
            <a:pPr indent="0" marL="0">
              <a:buNone/>
            </a:pPr>
            <a:r>
              <a:rPr lang="en-US" sz="1050" spc="200" kern="0" dirty="0">
                <a:solidFill>
                  <a:srgbClr val="6E7F9E"/>
                </a:solidFill>
                <a:latin typeface="Calibri" pitchFamily="34" charset="0"/>
                <a:ea typeface="Calibri" pitchFamily="34" charset="-122"/>
                <a:cs typeface="Calibri" pitchFamily="34" charset="-120"/>
              </a:rPr>
              <a:t>FRONTIER AI · SCALE &amp; CAPABILITY TRAJECTORY   —   DRAFT v1 FOR REVIEW · AUG 2026</a:t>
            </a:r>
            <a:endParaRPr lang="en-US" sz="1050" dirty="0"/>
          </a:p>
        </p:txBody>
      </p:sp>
      <p:sp>
        <p:nvSpPr>
          <p:cNvPr id="3" name="Text 1"/>
          <p:cNvSpPr/>
          <p:nvPr/>
        </p:nvSpPr>
        <p:spPr>
          <a:xfrm>
            <a:off x="502920" y="548640"/>
            <a:ext cx="11155680" cy="566928"/>
          </a:xfrm>
          <a:prstGeom prst="rect">
            <a:avLst/>
          </a:prstGeom>
          <a:noFill/>
          <a:ln/>
        </p:spPr>
        <p:txBody>
          <a:bodyPr wrap="square" lIns="0" tIns="0" rIns="0" bIns="0" rtlCol="0" anchor="ctr"/>
          <a:lstStyle/>
          <a:p>
            <a:pPr indent="0" marL="0">
              <a:buNone/>
            </a:pPr>
            <a:r>
              <a:rPr lang="en-US" sz="3300" b="1" dirty="0">
                <a:solidFill>
                  <a:srgbClr val="F2F6FD"/>
                </a:solidFill>
                <a:latin typeface="Calibri" pitchFamily="34" charset="0"/>
                <a:ea typeface="Calibri" pitchFamily="34" charset="-122"/>
                <a:cs typeface="Calibri" pitchFamily="34" charset="-120"/>
              </a:rPr>
              <a:t>The frontier today: two labs define the edge</a:t>
            </a:r>
            <a:endParaRPr lang="en-US" sz="3300" dirty="0"/>
          </a:p>
        </p:txBody>
      </p:sp>
      <p:sp>
        <p:nvSpPr>
          <p:cNvPr id="4" name="Text 2"/>
          <p:cNvSpPr/>
          <p:nvPr/>
        </p:nvSpPr>
        <p:spPr>
          <a:xfrm>
            <a:off x="502920" y="1152144"/>
            <a:ext cx="11155680" cy="329184"/>
          </a:xfrm>
          <a:prstGeom prst="rect">
            <a:avLst/>
          </a:prstGeom>
          <a:noFill/>
          <a:ln/>
        </p:spPr>
        <p:txBody>
          <a:bodyPr wrap="square" lIns="0" tIns="0" rIns="0" bIns="0" rtlCol="0" anchor="ctr"/>
          <a:lstStyle/>
          <a:p>
            <a:pPr indent="0" marL="0">
              <a:buNone/>
            </a:pPr>
            <a:r>
              <a:rPr lang="en-US" sz="1450" dirty="0">
                <a:solidFill>
                  <a:srgbClr val="C6D2E8"/>
                </a:solidFill>
                <a:latin typeface="Calibri" pitchFamily="34" charset="0"/>
                <a:ea typeface="Calibri" pitchFamily="34" charset="-122"/>
                <a:cs typeface="Calibri" pitchFamily="34" charset="-120"/>
              </a:rPr>
              <a:t>Both shipped new flagships in summer 2026. Capabilities and pricing are public — parameter counts are not.</a:t>
            </a:r>
            <a:endParaRPr lang="en-US" sz="1450" dirty="0"/>
          </a:p>
        </p:txBody>
      </p:sp>
      <p:sp>
        <p:nvSpPr>
          <p:cNvPr id="5" name="Shape 3"/>
          <p:cNvSpPr/>
          <p:nvPr/>
        </p:nvSpPr>
        <p:spPr>
          <a:xfrm>
            <a:off x="502920" y="1682496"/>
            <a:ext cx="5486400" cy="3913632"/>
          </a:xfrm>
          <a:prstGeom prst="roundRect">
            <a:avLst>
              <a:gd name="adj" fmla="val 2103"/>
            </a:avLst>
          </a:prstGeom>
          <a:solidFill>
            <a:srgbClr val="121C30"/>
          </a:solidFill>
          <a:ln w="12700">
            <a:solidFill>
              <a:srgbClr val="26334F"/>
            </a:solidFill>
            <a:prstDash val="solid"/>
          </a:ln>
        </p:spPr>
      </p:sp>
      <p:sp>
        <p:nvSpPr>
          <p:cNvPr id="6" name="Shape 4"/>
          <p:cNvSpPr/>
          <p:nvPr/>
        </p:nvSpPr>
        <p:spPr>
          <a:xfrm>
            <a:off x="777240" y="1938528"/>
            <a:ext cx="960120" cy="292608"/>
          </a:xfrm>
          <a:prstGeom prst="roundRect">
            <a:avLst>
              <a:gd name="adj" fmla="val 21875"/>
            </a:avLst>
          </a:prstGeom>
          <a:solidFill>
            <a:srgbClr val="3FC5A6">
              <a:alpha val="22000"/>
            </a:srgbClr>
          </a:solidFill>
          <a:ln w="15875">
            <a:solidFill>
              <a:srgbClr val="3FC5A6"/>
            </a:solidFill>
            <a:prstDash val="solid"/>
          </a:ln>
        </p:spPr>
      </p:sp>
      <p:sp>
        <p:nvSpPr>
          <p:cNvPr id="7" name="Text 5"/>
          <p:cNvSpPr/>
          <p:nvPr/>
        </p:nvSpPr>
        <p:spPr>
          <a:xfrm>
            <a:off x="777240" y="1927555"/>
            <a:ext cx="960120" cy="292608"/>
          </a:xfrm>
          <a:prstGeom prst="rect">
            <a:avLst/>
          </a:prstGeom>
          <a:noFill/>
          <a:ln/>
        </p:spPr>
        <p:txBody>
          <a:bodyPr wrap="square" lIns="0" tIns="0" rIns="0" bIns="0" rtlCol="0" anchor="ctr"/>
          <a:lstStyle/>
          <a:p>
            <a:pPr algn="ctr" indent="0" marL="0">
              <a:buNone/>
            </a:pPr>
            <a:r>
              <a:rPr lang="en-US" sz="950" b="1" spc="150" kern="0" dirty="0">
                <a:solidFill>
                  <a:srgbClr val="3FC5A6"/>
                </a:solidFill>
                <a:latin typeface="Calibri" pitchFamily="34" charset="0"/>
                <a:ea typeface="Calibri" pitchFamily="34" charset="-122"/>
                <a:cs typeface="Calibri" pitchFamily="34" charset="-120"/>
              </a:rPr>
              <a:t>OPENAI</a:t>
            </a:r>
            <a:endParaRPr lang="en-US" sz="950" dirty="0"/>
          </a:p>
        </p:txBody>
      </p:sp>
      <p:sp>
        <p:nvSpPr>
          <p:cNvPr id="8" name="Text 6"/>
          <p:cNvSpPr/>
          <p:nvPr/>
        </p:nvSpPr>
        <p:spPr>
          <a:xfrm>
            <a:off x="777240" y="2304288"/>
            <a:ext cx="4937760" cy="502920"/>
          </a:xfrm>
          <a:prstGeom prst="rect">
            <a:avLst/>
          </a:prstGeom>
          <a:noFill/>
          <a:ln/>
        </p:spPr>
        <p:txBody>
          <a:bodyPr wrap="square" lIns="0" tIns="0" rIns="0" bIns="0" rtlCol="0" anchor="ctr"/>
          <a:lstStyle/>
          <a:p>
            <a:pPr indent="0" marL="0">
              <a:buNone/>
            </a:pPr>
            <a:r>
              <a:rPr lang="en-US" sz="2800" b="1" dirty="0">
                <a:solidFill>
                  <a:srgbClr val="F2F6FD"/>
                </a:solidFill>
                <a:latin typeface="Calibri" pitchFamily="34" charset="0"/>
                <a:ea typeface="Calibri" pitchFamily="34" charset="-122"/>
                <a:cs typeface="Calibri" pitchFamily="34" charset="-120"/>
              </a:rPr>
              <a:t>GPT-5.6</a:t>
            </a:r>
            <a:endParaRPr lang="en-US" sz="2800" dirty="0"/>
          </a:p>
        </p:txBody>
      </p:sp>
      <p:sp>
        <p:nvSpPr>
          <p:cNvPr id="9" name="Text 7"/>
          <p:cNvSpPr/>
          <p:nvPr/>
        </p:nvSpPr>
        <p:spPr>
          <a:xfrm>
            <a:off x="777240" y="2834640"/>
            <a:ext cx="4983480" cy="457200"/>
          </a:xfrm>
          <a:prstGeom prst="rect">
            <a:avLst/>
          </a:prstGeom>
          <a:noFill/>
          <a:ln/>
        </p:spPr>
        <p:txBody>
          <a:bodyPr wrap="square" lIns="0" tIns="0" rIns="0" bIns="0" rtlCol="0" anchor="ctr"/>
          <a:lstStyle/>
          <a:p>
            <a:pPr indent="0" marL="0">
              <a:buNone/>
            </a:pPr>
            <a:r>
              <a:rPr lang="en-US" sz="1150" dirty="0">
                <a:solidFill>
                  <a:srgbClr val="8CA0C4"/>
                </a:solidFill>
                <a:latin typeface="Calibri" pitchFamily="34" charset="0"/>
                <a:ea typeface="Calibri" pitchFamily="34" charset="-122"/>
                <a:cs typeface="Calibri" pitchFamily="34" charset="-120"/>
              </a:rPr>
              <a:t>Released July 9, 2026 · three variants: Luna (fast) · Terra (balanced) · Sol (most capable)</a:t>
            </a:r>
            <a:endParaRPr lang="en-US" sz="1150" dirty="0"/>
          </a:p>
        </p:txBody>
      </p:sp>
      <p:sp>
        <p:nvSpPr>
          <p:cNvPr id="10" name="Text 8"/>
          <p:cNvSpPr/>
          <p:nvPr/>
        </p:nvSpPr>
        <p:spPr>
          <a:xfrm>
            <a:off x="777240" y="3346704"/>
            <a:ext cx="4983480" cy="155448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C6D2E8"/>
                </a:solidFill>
                <a:latin typeface="Calibri" pitchFamily="34" charset="0"/>
                <a:ea typeface="Calibri" pitchFamily="34" charset="-122"/>
                <a:cs typeface="Calibri" pitchFamily="34" charset="-120"/>
              </a:rPr>
              <a:t>Aimed at enterprise work, coding, scientific research, and cyberdefense — billed by OpenAI as its “strongest cybersecurity model yet”</a:t>
            </a:r>
            <a:endParaRPr lang="en-US" sz="1250" dirty="0"/>
          </a:p>
          <a:p>
            <a:pPr marL="342900" indent="-342900">
              <a:spcAft>
                <a:spcPts val="700"/>
              </a:spcAft>
              <a:buSzPct val="100000"/>
              <a:buChar char="•"/>
            </a:pPr>
            <a:r>
              <a:rPr lang="en-US" sz="1250" dirty="0">
                <a:solidFill>
                  <a:srgbClr val="C6D2E8"/>
                </a:solidFill>
                <a:latin typeface="Calibri" pitchFamily="34" charset="0"/>
                <a:ea typeface="Calibri" pitchFamily="34" charset="-122"/>
                <a:cs typeface="Calibri" pitchFamily="34" charset="-120"/>
              </a:rPr>
              <a:t>Sol: 54% more token-efficient on coding tasks than prior models (OpenAI claim)</a:t>
            </a:r>
            <a:endParaRPr lang="en-US" sz="1250" dirty="0"/>
          </a:p>
          <a:p>
            <a:pPr marL="342900" indent="-342900">
              <a:buSzPct val="100000"/>
              <a:buChar char="•"/>
            </a:pPr>
            <a:r>
              <a:rPr lang="en-US" sz="1250" dirty="0">
                <a:solidFill>
                  <a:srgbClr val="C6D2E8"/>
                </a:solidFill>
                <a:latin typeface="Calibri" pitchFamily="34" charset="0"/>
                <a:ea typeface="Calibri" pitchFamily="34" charset="-122"/>
                <a:cs typeface="Calibri" pitchFamily="34" charset="-120"/>
              </a:rPr>
              <a:t>Emphasis on design judgment and safeguards that hold under “real-world adversarial pressure”</a:t>
            </a:r>
            <a:endParaRPr lang="en-US" sz="1250" dirty="0"/>
          </a:p>
        </p:txBody>
      </p:sp>
      <p:sp>
        <p:nvSpPr>
          <p:cNvPr id="11" name="Shape 9"/>
          <p:cNvSpPr/>
          <p:nvPr/>
        </p:nvSpPr>
        <p:spPr>
          <a:xfrm>
            <a:off x="777240" y="5047488"/>
            <a:ext cx="2697480" cy="310896"/>
          </a:xfrm>
          <a:prstGeom prst="roundRect">
            <a:avLst>
              <a:gd name="adj" fmla="val 20588"/>
            </a:avLst>
          </a:prstGeom>
          <a:solidFill>
            <a:srgbClr val="0E1830"/>
          </a:solidFill>
          <a:ln w="15875">
            <a:solidFill>
              <a:srgbClr val="8CA0C4"/>
            </a:solidFill>
            <a:prstDash val="solid"/>
          </a:ln>
        </p:spPr>
      </p:sp>
      <p:sp>
        <p:nvSpPr>
          <p:cNvPr id="12" name="Text 10"/>
          <p:cNvSpPr/>
          <p:nvPr/>
        </p:nvSpPr>
        <p:spPr>
          <a:xfrm>
            <a:off x="777240" y="5036515"/>
            <a:ext cx="2697480" cy="310896"/>
          </a:xfrm>
          <a:prstGeom prst="rect">
            <a:avLst/>
          </a:prstGeom>
          <a:noFill/>
          <a:ln/>
        </p:spPr>
        <p:txBody>
          <a:bodyPr wrap="square" lIns="0" tIns="0" rIns="0" bIns="0" rtlCol="0" anchor="ctr"/>
          <a:lstStyle/>
          <a:p>
            <a:pPr algn="ctr" indent="0" marL="0">
              <a:buNone/>
            </a:pPr>
            <a:r>
              <a:rPr lang="en-US" sz="950" b="1" spc="150" kern="0" dirty="0">
                <a:solidFill>
                  <a:srgbClr val="8CA0C4"/>
                </a:solidFill>
                <a:latin typeface="Calibri" pitchFamily="34" charset="0"/>
                <a:ea typeface="Calibri" pitchFamily="34" charset="-122"/>
                <a:cs typeface="Calibri" pitchFamily="34" charset="-120"/>
              </a:rPr>
              <a:t>PARAMETERS: NOT DISCLOSED</a:t>
            </a:r>
            <a:endParaRPr lang="en-US" sz="950" dirty="0"/>
          </a:p>
        </p:txBody>
      </p:sp>
      <p:sp>
        <p:nvSpPr>
          <p:cNvPr id="13" name="Shape 11"/>
          <p:cNvSpPr/>
          <p:nvPr/>
        </p:nvSpPr>
        <p:spPr>
          <a:xfrm>
            <a:off x="6199632" y="1682496"/>
            <a:ext cx="5486400" cy="3913632"/>
          </a:xfrm>
          <a:prstGeom prst="roundRect">
            <a:avLst>
              <a:gd name="adj" fmla="val 2103"/>
            </a:avLst>
          </a:prstGeom>
          <a:solidFill>
            <a:srgbClr val="121C30"/>
          </a:solidFill>
          <a:ln w="12700">
            <a:solidFill>
              <a:srgbClr val="26334F"/>
            </a:solidFill>
            <a:prstDash val="solid"/>
          </a:ln>
        </p:spPr>
      </p:sp>
      <p:sp>
        <p:nvSpPr>
          <p:cNvPr id="14" name="Shape 12"/>
          <p:cNvSpPr/>
          <p:nvPr/>
        </p:nvSpPr>
        <p:spPr>
          <a:xfrm>
            <a:off x="6473952" y="1938528"/>
            <a:ext cx="1234440" cy="292608"/>
          </a:xfrm>
          <a:prstGeom prst="roundRect">
            <a:avLst>
              <a:gd name="adj" fmla="val 21875"/>
            </a:avLst>
          </a:prstGeom>
          <a:solidFill>
            <a:srgbClr val="E39066">
              <a:alpha val="22000"/>
            </a:srgbClr>
          </a:solidFill>
          <a:ln w="15875">
            <a:solidFill>
              <a:srgbClr val="E39066"/>
            </a:solidFill>
            <a:prstDash val="solid"/>
          </a:ln>
        </p:spPr>
      </p:sp>
      <p:sp>
        <p:nvSpPr>
          <p:cNvPr id="15" name="Text 13"/>
          <p:cNvSpPr/>
          <p:nvPr/>
        </p:nvSpPr>
        <p:spPr>
          <a:xfrm>
            <a:off x="6473952" y="1927555"/>
            <a:ext cx="1234440" cy="292608"/>
          </a:xfrm>
          <a:prstGeom prst="rect">
            <a:avLst/>
          </a:prstGeom>
          <a:noFill/>
          <a:ln/>
        </p:spPr>
        <p:txBody>
          <a:bodyPr wrap="square" lIns="0" tIns="0" rIns="0" bIns="0" rtlCol="0" anchor="ctr"/>
          <a:lstStyle/>
          <a:p>
            <a:pPr algn="ctr" indent="0" marL="0">
              <a:buNone/>
            </a:pPr>
            <a:r>
              <a:rPr lang="en-US" sz="950" b="1" spc="150" kern="0" dirty="0">
                <a:solidFill>
                  <a:srgbClr val="E39066"/>
                </a:solidFill>
                <a:latin typeface="Calibri" pitchFamily="34" charset="0"/>
                <a:ea typeface="Calibri" pitchFamily="34" charset="-122"/>
                <a:cs typeface="Calibri" pitchFamily="34" charset="-120"/>
              </a:rPr>
              <a:t>ANTHROPIC</a:t>
            </a:r>
            <a:endParaRPr lang="en-US" sz="950" dirty="0"/>
          </a:p>
        </p:txBody>
      </p:sp>
      <p:sp>
        <p:nvSpPr>
          <p:cNvPr id="16" name="Text 14"/>
          <p:cNvSpPr/>
          <p:nvPr/>
        </p:nvSpPr>
        <p:spPr>
          <a:xfrm>
            <a:off x="6473952" y="2304288"/>
            <a:ext cx="4937760" cy="502920"/>
          </a:xfrm>
          <a:prstGeom prst="rect">
            <a:avLst/>
          </a:prstGeom>
          <a:noFill/>
          <a:ln/>
        </p:spPr>
        <p:txBody>
          <a:bodyPr wrap="square" lIns="0" tIns="0" rIns="0" bIns="0" rtlCol="0" anchor="ctr"/>
          <a:lstStyle/>
          <a:p>
            <a:pPr indent="0" marL="0">
              <a:buNone/>
            </a:pPr>
            <a:r>
              <a:rPr lang="en-US" sz="2800" b="1" dirty="0">
                <a:solidFill>
                  <a:srgbClr val="F2F6FD"/>
                </a:solidFill>
                <a:latin typeface="Calibri" pitchFamily="34" charset="0"/>
                <a:ea typeface="Calibri" pitchFamily="34" charset="-122"/>
                <a:cs typeface="Calibri" pitchFamily="34" charset="-120"/>
              </a:rPr>
              <a:t>Claude Fable 5</a:t>
            </a:r>
            <a:endParaRPr lang="en-US" sz="2800" dirty="0"/>
          </a:p>
        </p:txBody>
      </p:sp>
      <p:sp>
        <p:nvSpPr>
          <p:cNvPr id="17" name="Text 15"/>
          <p:cNvSpPr/>
          <p:nvPr/>
        </p:nvSpPr>
        <p:spPr>
          <a:xfrm>
            <a:off x="6473952" y="2834640"/>
            <a:ext cx="4983480" cy="457200"/>
          </a:xfrm>
          <a:prstGeom prst="rect">
            <a:avLst/>
          </a:prstGeom>
          <a:noFill/>
          <a:ln/>
        </p:spPr>
        <p:txBody>
          <a:bodyPr wrap="square" lIns="0" tIns="0" rIns="0" bIns="0" rtlCol="0" anchor="ctr"/>
          <a:lstStyle/>
          <a:p>
            <a:pPr indent="0" marL="0">
              <a:buNone/>
            </a:pPr>
            <a:r>
              <a:rPr lang="en-US" sz="1150" dirty="0">
                <a:solidFill>
                  <a:srgbClr val="8CA0C4"/>
                </a:solidFill>
                <a:latin typeface="Calibri" pitchFamily="34" charset="0"/>
                <a:ea typeface="Calibri" pitchFamily="34" charset="-122"/>
                <a:cs typeface="Calibri" pitchFamily="34" charset="-120"/>
              </a:rPr>
              <a:t>Released June 9, 2026 · first “Mythos-class” model · same underlying model as restricted-access Claude Mythos 5</a:t>
            </a:r>
            <a:endParaRPr lang="en-US" sz="1150" dirty="0"/>
          </a:p>
        </p:txBody>
      </p:sp>
      <p:sp>
        <p:nvSpPr>
          <p:cNvPr id="18" name="Text 16"/>
          <p:cNvSpPr/>
          <p:nvPr/>
        </p:nvSpPr>
        <p:spPr>
          <a:xfrm>
            <a:off x="6473952" y="3346704"/>
            <a:ext cx="4983480" cy="155448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C6D2E8"/>
                </a:solidFill>
                <a:latin typeface="Calibri" pitchFamily="34" charset="0"/>
                <a:ea typeface="Calibri" pitchFamily="34" charset="-122"/>
                <a:cs typeface="Calibri" pitchFamily="34" charset="-120"/>
              </a:rPr>
              <a:t>Fable 5 = broad availability with new high-risk-area safeguards; Mythos 5 = trusted cyberdefense/infrastructure partners, fewer safeguards</a:t>
            </a:r>
            <a:endParaRPr lang="en-US" sz="1250" dirty="0"/>
          </a:p>
          <a:p>
            <a:pPr marL="342900" indent="-342900">
              <a:spcAft>
                <a:spcPts val="700"/>
              </a:spcAft>
              <a:buSzPct val="100000"/>
              <a:buChar char="•"/>
            </a:pPr>
            <a:r>
              <a:rPr lang="en-US" sz="1250" dirty="0">
                <a:solidFill>
                  <a:srgbClr val="C6D2E8"/>
                </a:solidFill>
                <a:latin typeface="Calibri" pitchFamily="34" charset="0"/>
                <a:ea typeface="Calibri" pitchFamily="34" charset="-122"/>
                <a:cs typeface="Calibri" pitchFamily="34" charset="-120"/>
              </a:rPr>
              <a:t>Anthropic: &gt;10% above Claude Opus 4.8 on some benchmarks; strong software-engineering and knowledge-work results</a:t>
            </a:r>
            <a:endParaRPr lang="en-US" sz="1250" dirty="0"/>
          </a:p>
          <a:p>
            <a:pPr marL="342900" indent="-342900">
              <a:buSzPct val="100000"/>
              <a:buChar char="•"/>
            </a:pPr>
            <a:r>
              <a:rPr lang="en-US" sz="1250" dirty="0">
                <a:solidFill>
                  <a:srgbClr val="C6D2E8"/>
                </a:solidFill>
                <a:latin typeface="Calibri" pitchFamily="34" charset="0"/>
                <a:ea typeface="Calibri" pitchFamily="34" charset="-122"/>
                <a:cs typeface="Calibri" pitchFamily="34" charset="-120"/>
              </a:rPr>
              <a:t>Pricing: $10 / $50 per million tokens (input / output)</a:t>
            </a:r>
            <a:endParaRPr lang="en-US" sz="1250" dirty="0"/>
          </a:p>
        </p:txBody>
      </p:sp>
      <p:sp>
        <p:nvSpPr>
          <p:cNvPr id="19" name="Shape 17"/>
          <p:cNvSpPr/>
          <p:nvPr/>
        </p:nvSpPr>
        <p:spPr>
          <a:xfrm>
            <a:off x="6473952" y="5047488"/>
            <a:ext cx="2697480" cy="310896"/>
          </a:xfrm>
          <a:prstGeom prst="roundRect">
            <a:avLst>
              <a:gd name="adj" fmla="val 20588"/>
            </a:avLst>
          </a:prstGeom>
          <a:solidFill>
            <a:srgbClr val="0E1830"/>
          </a:solidFill>
          <a:ln w="15875">
            <a:solidFill>
              <a:srgbClr val="8CA0C4"/>
            </a:solidFill>
            <a:prstDash val="solid"/>
          </a:ln>
        </p:spPr>
      </p:sp>
      <p:sp>
        <p:nvSpPr>
          <p:cNvPr id="20" name="Text 18"/>
          <p:cNvSpPr/>
          <p:nvPr/>
        </p:nvSpPr>
        <p:spPr>
          <a:xfrm>
            <a:off x="6473952" y="5036515"/>
            <a:ext cx="2697480" cy="310896"/>
          </a:xfrm>
          <a:prstGeom prst="rect">
            <a:avLst/>
          </a:prstGeom>
          <a:noFill/>
          <a:ln/>
        </p:spPr>
        <p:txBody>
          <a:bodyPr wrap="square" lIns="0" tIns="0" rIns="0" bIns="0" rtlCol="0" anchor="ctr"/>
          <a:lstStyle/>
          <a:p>
            <a:pPr algn="ctr" indent="0" marL="0">
              <a:buNone/>
            </a:pPr>
            <a:r>
              <a:rPr lang="en-US" sz="950" b="1" spc="150" kern="0" dirty="0">
                <a:solidFill>
                  <a:srgbClr val="8CA0C4"/>
                </a:solidFill>
                <a:latin typeface="Calibri" pitchFamily="34" charset="0"/>
                <a:ea typeface="Calibri" pitchFamily="34" charset="-122"/>
                <a:cs typeface="Calibri" pitchFamily="34" charset="-120"/>
              </a:rPr>
              <a:t>PARAMETERS: NOT DISCLOSED</a:t>
            </a:r>
            <a:endParaRPr lang="en-US" sz="950" dirty="0"/>
          </a:p>
        </p:txBody>
      </p:sp>
      <p:sp>
        <p:nvSpPr>
          <p:cNvPr id="21" name="Shape 19"/>
          <p:cNvSpPr/>
          <p:nvPr/>
        </p:nvSpPr>
        <p:spPr>
          <a:xfrm>
            <a:off x="502920" y="5779008"/>
            <a:ext cx="11183112" cy="512064"/>
          </a:xfrm>
          <a:prstGeom prst="roundRect">
            <a:avLst>
              <a:gd name="adj" fmla="val 16071"/>
            </a:avLst>
          </a:prstGeom>
          <a:solidFill>
            <a:srgbClr val="0E1830"/>
          </a:solidFill>
          <a:ln w="12700">
            <a:solidFill>
              <a:srgbClr val="26334F"/>
            </a:solidFill>
            <a:prstDash val="solid"/>
          </a:ln>
        </p:spPr>
      </p:sp>
      <p:sp>
        <p:nvSpPr>
          <p:cNvPr id="22" name="Text 20"/>
          <p:cNvSpPr/>
          <p:nvPr/>
        </p:nvSpPr>
        <p:spPr>
          <a:xfrm>
            <a:off x="777240" y="5779008"/>
            <a:ext cx="10698480" cy="512064"/>
          </a:xfrm>
          <a:prstGeom prst="rect">
            <a:avLst/>
          </a:prstGeom>
          <a:noFill/>
          <a:ln/>
        </p:spPr>
        <p:txBody>
          <a:bodyPr wrap="square" lIns="0" tIns="0" rIns="0" bIns="0" rtlCol="0" anchor="ctr"/>
          <a:lstStyle/>
          <a:p>
            <a:pPr indent="0" marL="0">
              <a:buNone/>
            </a:pPr>
            <a:r>
              <a:rPr lang="en-US" sz="1050" b="1" dirty="0">
                <a:solidFill>
                  <a:srgbClr val="C6D2E8"/>
                </a:solidFill>
                <a:latin typeface="Calibri" pitchFamily="34" charset="0"/>
                <a:ea typeface="Calibri" pitchFamily="34" charset="-122"/>
                <a:cs typeface="Calibri" pitchFamily="34" charset="-120"/>
              </a:rPr>
              <a:t>Name check: </a:t>
            </a:r>
            <a:pPr indent="0" marL="0">
              <a:buNone/>
            </a:pPr>
            <a:r>
              <a:rPr lang="en-US" sz="1050" dirty="0">
                <a:solidFill>
                  <a:srgbClr val="8CA0C4"/>
                </a:solidFill>
                <a:latin typeface="Calibri" pitchFamily="34" charset="0"/>
                <a:ea typeface="Calibri" pitchFamily="34" charset="-122"/>
                <a:cs typeface="Calibri" pitchFamily="34" charset="-120"/>
              </a:rPr>
              <a:t>the voice transcript’s “Fable” is not a recognition error — Claude Fable 5 is the confirmed Anthropic model name. Google (Gemini), xAI and others also ship frontier models; per scope, this draft compares the two labs above.</a:t>
            </a:r>
            <a:endParaRPr lang="en-US" sz="1050" dirty="0"/>
          </a:p>
        </p:txBody>
      </p:sp>
      <p:sp>
        <p:nvSpPr>
          <p:cNvPr id="23" name="Text 21"/>
          <p:cNvSpPr/>
          <p:nvPr/>
        </p:nvSpPr>
        <p:spPr>
          <a:xfrm>
            <a:off x="502920" y="6382512"/>
            <a:ext cx="11155680" cy="256032"/>
          </a:xfrm>
          <a:prstGeom prst="rect">
            <a:avLst/>
          </a:prstGeom>
          <a:noFill/>
          <a:ln/>
        </p:spPr>
        <p:txBody>
          <a:bodyPr wrap="square" lIns="0" tIns="0" rIns="0" bIns="0" rtlCol="0" anchor="ctr"/>
          <a:lstStyle/>
          <a:p>
            <a:pPr indent="0" marL="0">
              <a:buNone/>
            </a:pPr>
            <a:r>
              <a:rPr lang="en-US" sz="850" dirty="0">
                <a:solidFill>
                  <a:srgbClr val="6E7F9E"/>
                </a:solidFill>
                <a:latin typeface="Calibri" pitchFamily="34" charset="0"/>
                <a:ea typeface="Calibri" pitchFamily="34" charset="-122"/>
                <a:cs typeface="Calibri" pitchFamily="34" charset="-120"/>
              </a:rPr>
              <a:t>Sources: OpenAI (Jul 9, 2026); TechCrunch; CNBC (Jun 9 &amp; Jul 8, 2026); Anthropic announcements. Details and links in speaker notes.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02920" y="237744"/>
            <a:ext cx="11155680" cy="502920"/>
          </a:xfrm>
          <a:prstGeom prst="rect">
            <a:avLst/>
          </a:prstGeom>
          <a:noFill/>
          <a:ln/>
        </p:spPr>
        <p:txBody>
          <a:bodyPr wrap="square" lIns="0" tIns="0" rIns="0" bIns="0" rtlCol="0" anchor="ctr"/>
          <a:lstStyle/>
          <a:p>
            <a:pPr indent="0" marL="0">
              <a:buNone/>
            </a:pPr>
            <a:r>
              <a:rPr lang="en-US" sz="2700" b="1" dirty="0">
                <a:solidFill>
                  <a:srgbClr val="F2F6FD"/>
                </a:solidFill>
                <a:latin typeface="Calibri" pitchFamily="34" charset="0"/>
                <a:ea typeface="Calibri" pitchFamily="34" charset="-122"/>
                <a:cs typeface="Calibri" pitchFamily="34" charset="-120"/>
              </a:rPr>
              <a:t>The scale trajectory: </a:t>
            </a:r>
            <a:pPr indent="0" marL="0">
              <a:buNone/>
            </a:pPr>
            <a:r>
              <a:rPr lang="en-US" sz="2700" b="1" dirty="0">
                <a:solidFill>
                  <a:srgbClr val="F2F6FD"/>
                </a:solidFill>
                <a:latin typeface="Calibri" pitchFamily="34" charset="0"/>
                <a:ea typeface="Calibri" pitchFamily="34" charset="-122"/>
                <a:cs typeface="Calibri" pitchFamily="34" charset="-120"/>
              </a:rPr>
              <a:t>≈30× since ChatGPT</a:t>
            </a:r>
            <a:pPr indent="0" marL="0">
              <a:buNone/>
            </a:pPr>
            <a:r>
              <a:rPr lang="en-US" sz="1600" b="1" dirty="0">
                <a:solidFill>
                  <a:srgbClr val="8CA0C4"/>
                </a:solidFill>
                <a:latin typeface="Calibri" pitchFamily="34" charset="0"/>
                <a:ea typeface="Calibri" pitchFamily="34" charset="-122"/>
                <a:cs typeface="Calibri" pitchFamily="34" charset="-120"/>
              </a:rPr>
              <a:t>  (est.)</a:t>
            </a:r>
            <a:endParaRPr lang="en-US" sz="2700" dirty="0"/>
          </a:p>
        </p:txBody>
      </p:sp>
      <p:pic>
        <p:nvPicPr>
          <p:cNvPr id="3" name="Image 0" descr="/home/user/Test/frontier-ai-deck/chart.png">    </p:cNvPr>
          <p:cNvPicPr>
            <a:picLocks noChangeAspect="1"/>
          </p:cNvPicPr>
          <p:nvPr/>
        </p:nvPicPr>
        <p:blipFill>
          <a:blip r:embed="rId1"/>
          <a:stretch>
            <a:fillRect/>
          </a:stretch>
        </p:blipFill>
        <p:spPr>
          <a:xfrm>
            <a:off x="457200" y="859536"/>
            <a:ext cx="11274552" cy="4983480"/>
          </a:xfrm>
          <a:prstGeom prst="rect">
            <a:avLst/>
          </a:prstGeom>
        </p:spPr>
      </p:pic>
      <p:sp>
        <p:nvSpPr>
          <p:cNvPr id="4" name="Shape 1"/>
          <p:cNvSpPr/>
          <p:nvPr/>
        </p:nvSpPr>
        <p:spPr>
          <a:xfrm>
            <a:off x="502920" y="5925312"/>
            <a:ext cx="11183112" cy="621792"/>
          </a:xfrm>
          <a:prstGeom prst="roundRect">
            <a:avLst>
              <a:gd name="adj" fmla="val 13235"/>
            </a:avLst>
          </a:prstGeom>
          <a:solidFill>
            <a:srgbClr val="0E1830"/>
          </a:solidFill>
          <a:ln w="12700">
            <a:solidFill>
              <a:srgbClr val="26334F"/>
            </a:solidFill>
            <a:prstDash val="solid"/>
          </a:ln>
        </p:spPr>
      </p:sp>
      <p:sp>
        <p:nvSpPr>
          <p:cNvPr id="5" name="Text 2"/>
          <p:cNvSpPr/>
          <p:nvPr/>
        </p:nvSpPr>
        <p:spPr>
          <a:xfrm>
            <a:off x="777240" y="5925312"/>
            <a:ext cx="10698480" cy="621792"/>
          </a:xfrm>
          <a:prstGeom prst="rect">
            <a:avLst/>
          </a:prstGeom>
          <a:noFill/>
          <a:ln/>
        </p:spPr>
        <p:txBody>
          <a:bodyPr wrap="square" lIns="0" tIns="0" rIns="0" bIns="0" rtlCol="0" anchor="ctr"/>
          <a:lstStyle/>
          <a:p>
            <a:pPr indent="0" marL="0">
              <a:buNone/>
            </a:pPr>
            <a:r>
              <a:rPr lang="en-US" sz="900" b="1" dirty="0">
                <a:solidFill>
                  <a:srgbClr val="C6D2E8"/>
                </a:solidFill>
                <a:latin typeface="Calibri" pitchFamily="34" charset="0"/>
                <a:ea typeface="Calibri" pitchFamily="34" charset="-122"/>
                <a:cs typeface="Calibri" pitchFamily="34" charset="-120"/>
              </a:rPr>
              <a:t>Reading this honestly: </a:t>
            </a:r>
            <a:pPr indent="0" marL="0">
              <a:buNone/>
            </a:pPr>
            <a:r>
              <a:rPr lang="en-US" sz="900" dirty="0">
                <a:solidFill>
                  <a:srgbClr val="8CA0C4"/>
                </a:solidFill>
                <a:latin typeface="Calibri" pitchFamily="34" charset="0"/>
                <a:ea typeface="Calibri" pitchFamily="34" charset="-122"/>
                <a:cs typeface="Calibri" pitchFamily="34" charset="-120"/>
              </a:rPr>
              <a:t>OpenAI last disclosed a flagship count with GPT-3 (2020); Anthropic never has for Claude flagships. Filled dots = lab-disclosed; hollow dots = third-party estimates (bars = published ranges). MoE splits “total” vs “active”: GPT-4 est. ~1.8T total, ~280B active per token. Log scale: each gridline is 10×.  Sources: lab papers (GPT-3 lineage for GPT-3.5; RL-CAI 52B); SemiAnalysis (GPT-4); Epoch AI (GPT-4o, 3.5 Sonnet, compute trend); LifeArchitect (Claude 3 Opus); press/analyst reports (later flagships).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02920" y="310896"/>
            <a:ext cx="7863840" cy="548640"/>
          </a:xfrm>
          <a:prstGeom prst="rect">
            <a:avLst/>
          </a:prstGeom>
          <a:noFill/>
          <a:ln/>
        </p:spPr>
        <p:txBody>
          <a:bodyPr wrap="square" lIns="0" tIns="0" rIns="0" bIns="0" rtlCol="0" anchor="ctr"/>
          <a:lstStyle/>
          <a:p>
            <a:pPr indent="0" marL="0">
              <a:buNone/>
            </a:pPr>
            <a:r>
              <a:rPr lang="en-US" sz="3000" b="1" dirty="0">
                <a:solidFill>
                  <a:srgbClr val="F2F6FD"/>
                </a:solidFill>
                <a:latin typeface="Calibri" pitchFamily="34" charset="0"/>
                <a:ea typeface="Calibri" pitchFamily="34" charset="-122"/>
                <a:cs typeface="Calibri" pitchFamily="34" charset="-120"/>
              </a:rPr>
              <a:t>Next generation: the 8–10T scenario</a:t>
            </a:r>
            <a:endParaRPr lang="en-US" sz="3000" dirty="0"/>
          </a:p>
        </p:txBody>
      </p:sp>
      <p:sp>
        <p:nvSpPr>
          <p:cNvPr id="3" name="Shape 1"/>
          <p:cNvSpPr/>
          <p:nvPr/>
        </p:nvSpPr>
        <p:spPr>
          <a:xfrm>
            <a:off x="8595360" y="402336"/>
            <a:ext cx="3090672" cy="365760"/>
          </a:xfrm>
          <a:prstGeom prst="roundRect">
            <a:avLst>
              <a:gd name="adj" fmla="val 17500"/>
            </a:avLst>
          </a:prstGeom>
          <a:solidFill>
            <a:srgbClr val="A79BF9">
              <a:alpha val="22000"/>
            </a:srgbClr>
          </a:solidFill>
          <a:ln w="15875">
            <a:solidFill>
              <a:srgbClr val="A79BF9"/>
            </a:solidFill>
            <a:prstDash val="solid"/>
          </a:ln>
        </p:spPr>
      </p:sp>
      <p:sp>
        <p:nvSpPr>
          <p:cNvPr id="4" name="Text 2"/>
          <p:cNvSpPr/>
          <p:nvPr/>
        </p:nvSpPr>
        <p:spPr>
          <a:xfrm>
            <a:off x="8595360" y="391363"/>
            <a:ext cx="3090672" cy="365760"/>
          </a:xfrm>
          <a:prstGeom prst="rect">
            <a:avLst/>
          </a:prstGeom>
          <a:noFill/>
          <a:ln/>
        </p:spPr>
        <p:txBody>
          <a:bodyPr wrap="square" lIns="0" tIns="0" rIns="0" bIns="0" rtlCol="0" anchor="ctr"/>
          <a:lstStyle/>
          <a:p>
            <a:pPr algn="ctr" indent="0" marL="0">
              <a:buNone/>
            </a:pPr>
            <a:r>
              <a:rPr lang="en-US" sz="950" b="1" spc="150" kern="0" dirty="0">
                <a:solidFill>
                  <a:srgbClr val="A79BF9"/>
                </a:solidFill>
                <a:latin typeface="Calibri" pitchFamily="34" charset="0"/>
                <a:ea typeface="Calibri" pitchFamily="34" charset="-122"/>
                <a:cs typeface="Calibri" pitchFamily="34" charset="-120"/>
              </a:rPr>
              <a:t>SCENARIO — NOT A FORECAST</a:t>
            </a:r>
            <a:endParaRPr lang="en-US" sz="950" dirty="0"/>
          </a:p>
        </p:txBody>
      </p:sp>
      <p:sp>
        <p:nvSpPr>
          <p:cNvPr id="5" name="Text 3"/>
          <p:cNvSpPr/>
          <p:nvPr/>
        </p:nvSpPr>
        <p:spPr>
          <a:xfrm>
            <a:off x="502920" y="914400"/>
            <a:ext cx="11155680" cy="365760"/>
          </a:xfrm>
          <a:prstGeom prst="rect">
            <a:avLst/>
          </a:prstGeom>
          <a:noFill/>
          <a:ln/>
        </p:spPr>
        <p:txBody>
          <a:bodyPr wrap="square" lIns="0" tIns="0" rIns="0" bIns="0" rtlCol="0" anchor="ctr"/>
          <a:lstStyle/>
          <a:p>
            <a:pPr indent="0" marL="0">
              <a:buNone/>
            </a:pPr>
            <a:r>
              <a:rPr lang="en-US" sz="1350" dirty="0">
                <a:solidFill>
                  <a:srgbClr val="C6D2E8"/>
                </a:solidFill>
                <a:latin typeface="Calibri" pitchFamily="34" charset="0"/>
                <a:ea typeface="Calibri" pitchFamily="34" charset="-122"/>
                <a:cs typeface="Calibri" pitchFamily="34" charset="-120"/>
              </a:rPr>
              <a:t>Working assumption for planning: next-generation frontier models reach roughly 8–10 trillion total parameters and deliver another major capability step.</a:t>
            </a:r>
            <a:endParaRPr lang="en-US" sz="1350" dirty="0"/>
          </a:p>
        </p:txBody>
      </p:sp>
      <p:sp>
        <p:nvSpPr>
          <p:cNvPr id="6" name="Shape 4"/>
          <p:cNvSpPr/>
          <p:nvPr/>
        </p:nvSpPr>
        <p:spPr>
          <a:xfrm>
            <a:off x="502920" y="1481328"/>
            <a:ext cx="3310128" cy="4041648"/>
          </a:xfrm>
          <a:prstGeom prst="roundRect">
            <a:avLst>
              <a:gd name="adj" fmla="val 2486"/>
            </a:avLst>
          </a:prstGeom>
          <a:solidFill>
            <a:srgbClr val="121C30"/>
          </a:solidFill>
          <a:ln w="12700">
            <a:solidFill>
              <a:srgbClr val="26334F"/>
            </a:solidFill>
            <a:prstDash val="solid"/>
          </a:ln>
        </p:spPr>
      </p:sp>
      <p:sp>
        <p:nvSpPr>
          <p:cNvPr id="7" name="Text 5"/>
          <p:cNvSpPr/>
          <p:nvPr/>
        </p:nvSpPr>
        <p:spPr>
          <a:xfrm>
            <a:off x="502920" y="1984248"/>
            <a:ext cx="3310128" cy="960120"/>
          </a:xfrm>
          <a:prstGeom prst="rect">
            <a:avLst/>
          </a:prstGeom>
          <a:noFill/>
          <a:ln/>
        </p:spPr>
        <p:txBody>
          <a:bodyPr wrap="square" lIns="0" tIns="0" rIns="0" bIns="0" rtlCol="0" anchor="ctr"/>
          <a:lstStyle/>
          <a:p>
            <a:pPr algn="ctr" indent="0" marL="0">
              <a:buNone/>
            </a:pPr>
            <a:r>
              <a:rPr lang="en-US" sz="6000" b="1" dirty="0">
                <a:solidFill>
                  <a:srgbClr val="A79BF9"/>
                </a:solidFill>
                <a:latin typeface="Calibri" pitchFamily="34" charset="0"/>
                <a:ea typeface="Calibri" pitchFamily="34" charset="-122"/>
                <a:cs typeface="Calibri" pitchFamily="34" charset="-120"/>
              </a:rPr>
              <a:t>8–10T</a:t>
            </a:r>
            <a:endParaRPr lang="en-US" sz="6000" dirty="0"/>
          </a:p>
        </p:txBody>
      </p:sp>
      <p:sp>
        <p:nvSpPr>
          <p:cNvPr id="8" name="Text 6"/>
          <p:cNvSpPr/>
          <p:nvPr/>
        </p:nvSpPr>
        <p:spPr>
          <a:xfrm>
            <a:off x="502920" y="3054096"/>
            <a:ext cx="3310128" cy="566928"/>
          </a:xfrm>
          <a:prstGeom prst="rect">
            <a:avLst/>
          </a:prstGeom>
          <a:noFill/>
          <a:ln/>
        </p:spPr>
        <p:txBody>
          <a:bodyPr wrap="square" lIns="0" tIns="0" rIns="0" bIns="0" rtlCol="0" anchor="ctr"/>
          <a:lstStyle/>
          <a:p>
            <a:pPr algn="ctr" indent="0" marL="0">
              <a:buNone/>
            </a:pPr>
            <a:r>
              <a:rPr lang="en-US" sz="1200" dirty="0">
                <a:solidFill>
                  <a:srgbClr val="C6D2E8"/>
                </a:solidFill>
                <a:latin typeface="Calibri" pitchFamily="34" charset="0"/>
                <a:ea typeface="Calibri" pitchFamily="34" charset="-122"/>
                <a:cs typeface="Calibri" pitchFamily="34" charset="-120"/>
              </a:rPr>
              <a:t>total parameters, next-gen frontier</a:t>
            </a:r>
            <a:endParaRPr lang="en-US" sz="1200" dirty="0"/>
          </a:p>
          <a:p>
            <a:pPr algn="ctr" indent="0" marL="0">
              <a:buNone/>
            </a:pPr>
            <a:r>
              <a:rPr lang="en-US" sz="1200" dirty="0">
                <a:solidFill>
                  <a:srgbClr val="C6D2E8"/>
                </a:solidFill>
                <a:latin typeface="Calibri" pitchFamily="34" charset="0"/>
                <a:ea typeface="Calibri" pitchFamily="34" charset="-122"/>
                <a:cs typeface="Calibri" pitchFamily="34" charset="-120"/>
              </a:rPr>
              <a:t>(planning assumption)</a:t>
            </a:r>
            <a:endParaRPr lang="en-US" sz="1200" dirty="0"/>
          </a:p>
        </p:txBody>
      </p:sp>
      <p:sp>
        <p:nvSpPr>
          <p:cNvPr id="9" name="Shape 7"/>
          <p:cNvSpPr/>
          <p:nvPr/>
        </p:nvSpPr>
        <p:spPr>
          <a:xfrm>
            <a:off x="868680" y="3785616"/>
            <a:ext cx="2578608" cy="0"/>
          </a:xfrm>
          <a:prstGeom prst="line">
            <a:avLst/>
          </a:prstGeom>
          <a:noFill/>
          <a:ln w="12700">
            <a:solidFill>
              <a:srgbClr val="26334F"/>
            </a:solidFill>
            <a:prstDash val="solid"/>
          </a:ln>
        </p:spPr>
      </p:sp>
      <p:sp>
        <p:nvSpPr>
          <p:cNvPr id="10" name="Text 8"/>
          <p:cNvSpPr/>
          <p:nvPr/>
        </p:nvSpPr>
        <p:spPr>
          <a:xfrm>
            <a:off x="868680" y="3968496"/>
            <a:ext cx="2651760" cy="1371600"/>
          </a:xfrm>
          <a:prstGeom prst="rect">
            <a:avLst/>
          </a:prstGeom>
          <a:noFill/>
          <a:ln/>
        </p:spPr>
        <p:txBody>
          <a:bodyPr wrap="square" lIns="0" tIns="0" rIns="0" bIns="0" rtlCol="0" anchor="t"/>
          <a:lstStyle/>
          <a:p>
            <a:pPr indent="0" marL="0">
              <a:spcAft>
                <a:spcPts val="800"/>
              </a:spcAft>
              <a:buNone/>
            </a:pPr>
            <a:r>
              <a:rPr lang="en-US" sz="1150" dirty="0">
                <a:solidFill>
                  <a:srgbClr val="8CA0C4"/>
                </a:solidFill>
                <a:latin typeface="Calibri" pitchFamily="34" charset="0"/>
                <a:ea typeface="Calibri" pitchFamily="34" charset="-122"/>
                <a:cs typeface="Calibri" pitchFamily="34" charset="-120"/>
              </a:rPr>
              <a:t>≈ 2× today’s estimated ~5T frontier — one more historical scaling step, not a discontinuity</a:t>
            </a:r>
            <a:endParaRPr lang="en-US" sz="1150" dirty="0"/>
          </a:p>
          <a:p>
            <a:pPr indent="0" marL="0">
              <a:buNone/>
            </a:pPr>
            <a:r>
              <a:rPr lang="en-US" sz="1150" dirty="0">
                <a:solidFill>
                  <a:srgbClr val="8CA0C4"/>
                </a:solidFill>
                <a:latin typeface="Calibri" pitchFamily="34" charset="0"/>
                <a:ea typeface="Calibri" pitchFamily="34" charset="-122"/>
                <a:cs typeface="Calibri" pitchFamily="34" charset="-120"/>
              </a:rPr>
              <a:t>If the unconfirmed ~10T Mythos-class figures are right, this scale may already exist — making the scenario conservative on size</a:t>
            </a:r>
            <a:endParaRPr lang="en-US" sz="1150" dirty="0"/>
          </a:p>
        </p:txBody>
      </p:sp>
      <p:sp>
        <p:nvSpPr>
          <p:cNvPr id="11" name="Shape 9"/>
          <p:cNvSpPr/>
          <p:nvPr/>
        </p:nvSpPr>
        <p:spPr>
          <a:xfrm>
            <a:off x="4023360" y="1481328"/>
            <a:ext cx="3877056" cy="4041648"/>
          </a:xfrm>
          <a:prstGeom prst="roundRect">
            <a:avLst>
              <a:gd name="adj" fmla="val 2123"/>
            </a:avLst>
          </a:prstGeom>
          <a:solidFill>
            <a:srgbClr val="121C30"/>
          </a:solidFill>
          <a:ln w="12700">
            <a:solidFill>
              <a:srgbClr val="26334F"/>
            </a:solidFill>
            <a:prstDash val="solid"/>
          </a:ln>
        </p:spPr>
      </p:sp>
      <p:sp>
        <p:nvSpPr>
          <p:cNvPr id="12" name="Text 10"/>
          <p:cNvSpPr/>
          <p:nvPr/>
        </p:nvSpPr>
        <p:spPr>
          <a:xfrm>
            <a:off x="4297680" y="1719072"/>
            <a:ext cx="3383280" cy="365760"/>
          </a:xfrm>
          <a:prstGeom prst="rect">
            <a:avLst/>
          </a:prstGeom>
          <a:noFill/>
          <a:ln/>
        </p:spPr>
        <p:txBody>
          <a:bodyPr wrap="square" lIns="0" tIns="0" rIns="0" bIns="0" rtlCol="0" anchor="ctr"/>
          <a:lstStyle/>
          <a:p>
            <a:pPr indent="0" marL="0">
              <a:buNone/>
            </a:pPr>
            <a:r>
              <a:rPr lang="en-US" sz="1500" b="1" dirty="0">
                <a:solidFill>
                  <a:srgbClr val="F2F6FD"/>
                </a:solidFill>
                <a:latin typeface="Calibri" pitchFamily="34" charset="0"/>
                <a:ea typeface="Calibri" pitchFamily="34" charset="-122"/>
                <a:cs typeface="Calibri" pitchFamily="34" charset="-120"/>
              </a:rPr>
              <a:t>What supports it — verified trends</a:t>
            </a:r>
            <a:endParaRPr lang="en-US" sz="1500" dirty="0"/>
          </a:p>
        </p:txBody>
      </p:sp>
      <p:sp>
        <p:nvSpPr>
          <p:cNvPr id="13" name="Text 11"/>
          <p:cNvSpPr/>
          <p:nvPr/>
        </p:nvSpPr>
        <p:spPr>
          <a:xfrm>
            <a:off x="4297680" y="2194560"/>
            <a:ext cx="3383280" cy="310896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C6D2E8"/>
                </a:solidFill>
                <a:latin typeface="Calibri" pitchFamily="34" charset="0"/>
                <a:ea typeface="Calibri" pitchFamily="34" charset="-122"/>
                <a:cs typeface="Calibri" pitchFamily="34" charset="-120"/>
              </a:rPr>
              <a:t>Frontier training compute has grown ×4–5 per year for a decade (Epoch AI)</a:t>
            </a:r>
            <a:endParaRPr lang="en-US" sz="1200" dirty="0"/>
          </a:p>
          <a:p>
            <a:pPr marL="342900" indent="-342900">
              <a:spcAft>
                <a:spcPts val="800"/>
              </a:spcAft>
              <a:buSzPct val="100000"/>
              <a:buChar char="•"/>
            </a:pPr>
            <a:r>
              <a:rPr lang="en-US" sz="1200" dirty="0">
                <a:solidFill>
                  <a:srgbClr val="C6D2E8"/>
                </a:solidFill>
                <a:latin typeface="Calibri" pitchFamily="34" charset="0"/>
                <a:ea typeface="Calibri" pitchFamily="34" charset="-122"/>
                <a:cs typeface="Calibri" pitchFamily="34" charset="-120"/>
              </a:rPr>
              <a:t>Epoch judges ×4/yr feasible through 2030 — needing &gt;5 GW training power</a:t>
            </a:r>
            <a:endParaRPr lang="en-US" sz="1200" dirty="0"/>
          </a:p>
          <a:p>
            <a:pPr marL="342900" indent="-342900">
              <a:spcAft>
                <a:spcPts val="800"/>
              </a:spcAft>
              <a:buSzPct val="100000"/>
              <a:buChar char="•"/>
            </a:pPr>
            <a:r>
              <a:rPr lang="en-US" sz="1200" dirty="0">
                <a:solidFill>
                  <a:srgbClr val="C6D2E8"/>
                </a:solidFill>
                <a:latin typeface="Calibri" pitchFamily="34" charset="0"/>
                <a:ea typeface="Calibri" pitchFamily="34" charset="-122"/>
                <a:cs typeface="Calibri" pitchFamily="34" charset="-120"/>
              </a:rPr>
              <a:t>2026 frontier runs: 1e26–1e27 FLOPs, $200–500M per run — and still scaling</a:t>
            </a:r>
            <a:endParaRPr lang="en-US" sz="1200" dirty="0"/>
          </a:p>
          <a:p>
            <a:pPr marL="342900" indent="-342900">
              <a:buSzPct val="100000"/>
              <a:buChar char="•"/>
            </a:pPr>
            <a:r>
              <a:rPr lang="en-US" sz="1200" dirty="0">
                <a:solidFill>
                  <a:srgbClr val="C6D2E8"/>
                </a:solidFill>
                <a:latin typeface="Calibri" pitchFamily="34" charset="0"/>
                <a:ea typeface="Calibri" pitchFamily="34" charset="-122"/>
                <a:cs typeface="Calibri" pitchFamily="34" charset="-120"/>
              </a:rPr>
              <a:t>Est. frontier size roughly doubled per generation since 2023 (~1.8T → ~5T), putting 8–10T on-trend for the next step</a:t>
            </a:r>
            <a:endParaRPr lang="en-US" sz="1200" dirty="0"/>
          </a:p>
        </p:txBody>
      </p:sp>
      <p:sp>
        <p:nvSpPr>
          <p:cNvPr id="14" name="Shape 12"/>
          <p:cNvSpPr/>
          <p:nvPr/>
        </p:nvSpPr>
        <p:spPr>
          <a:xfrm>
            <a:off x="8101584" y="1481328"/>
            <a:ext cx="3584448" cy="4041648"/>
          </a:xfrm>
          <a:prstGeom prst="roundRect">
            <a:avLst>
              <a:gd name="adj" fmla="val 2296"/>
            </a:avLst>
          </a:prstGeom>
          <a:solidFill>
            <a:srgbClr val="121C30"/>
          </a:solidFill>
          <a:ln w="12700">
            <a:solidFill>
              <a:srgbClr val="26334F"/>
            </a:solidFill>
            <a:prstDash val="solid"/>
          </a:ln>
        </p:spPr>
      </p:sp>
      <p:sp>
        <p:nvSpPr>
          <p:cNvPr id="15" name="Text 13"/>
          <p:cNvSpPr/>
          <p:nvPr/>
        </p:nvSpPr>
        <p:spPr>
          <a:xfrm>
            <a:off x="8375904" y="1719072"/>
            <a:ext cx="3108960" cy="365760"/>
          </a:xfrm>
          <a:prstGeom prst="rect">
            <a:avLst/>
          </a:prstGeom>
          <a:noFill/>
          <a:ln/>
        </p:spPr>
        <p:txBody>
          <a:bodyPr wrap="square" lIns="0" tIns="0" rIns="0" bIns="0" rtlCol="0" anchor="ctr"/>
          <a:lstStyle/>
          <a:p>
            <a:pPr indent="0" marL="0">
              <a:buNone/>
            </a:pPr>
            <a:r>
              <a:rPr lang="en-US" sz="1500" b="1" dirty="0">
                <a:solidFill>
                  <a:srgbClr val="F2F6FD"/>
                </a:solidFill>
                <a:latin typeface="Calibri" pitchFamily="34" charset="0"/>
                <a:ea typeface="Calibri" pitchFamily="34" charset="-122"/>
                <a:cs typeface="Calibri" pitchFamily="34" charset="-120"/>
              </a:rPr>
              <a:t>What stays uncertain</a:t>
            </a:r>
            <a:endParaRPr lang="en-US" sz="1500" dirty="0"/>
          </a:p>
        </p:txBody>
      </p:sp>
      <p:sp>
        <p:nvSpPr>
          <p:cNvPr id="16" name="Text 14"/>
          <p:cNvSpPr/>
          <p:nvPr/>
        </p:nvSpPr>
        <p:spPr>
          <a:xfrm>
            <a:off x="8375904" y="2194560"/>
            <a:ext cx="3108960" cy="310896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C6D2E8"/>
                </a:solidFill>
                <a:latin typeface="Calibri" pitchFamily="34" charset="0"/>
                <a:ea typeface="Calibri" pitchFamily="34" charset="-122"/>
                <a:cs typeface="Calibri" pitchFamily="34" charset="-120"/>
              </a:rPr>
              <a:t>No lab discloses counts — 8–10T cannot be verified against ground truth</a:t>
            </a:r>
            <a:endParaRPr lang="en-US" sz="1200" dirty="0"/>
          </a:p>
          <a:p>
            <a:pPr marL="342900" indent="-342900">
              <a:spcAft>
                <a:spcPts val="800"/>
              </a:spcAft>
              <a:buSzPct val="100000"/>
              <a:buChar char="•"/>
            </a:pPr>
            <a:r>
              <a:rPr lang="en-US" sz="1200" dirty="0">
                <a:solidFill>
                  <a:srgbClr val="C6D2E8"/>
                </a:solidFill>
                <a:latin typeface="Calibri" pitchFamily="34" charset="0"/>
                <a:ea typeface="Calibri" pitchFamily="34" charset="-122"/>
                <a:cs typeface="Calibri" pitchFamily="34" charset="-120"/>
              </a:rPr>
              <a:t>Scale is not monotonic: 2024’s frontier shrank 5–10× before re-scaling</a:t>
            </a:r>
            <a:endParaRPr lang="en-US" sz="1200" dirty="0"/>
          </a:p>
          <a:p>
            <a:pPr marL="342900" indent="-342900">
              <a:spcAft>
                <a:spcPts val="800"/>
              </a:spcAft>
              <a:buSzPct val="100000"/>
              <a:buChar char="•"/>
            </a:pPr>
            <a:r>
              <a:rPr lang="en-US" sz="1200" dirty="0">
                <a:solidFill>
                  <a:srgbClr val="C6D2E8"/>
                </a:solidFill>
                <a:latin typeface="Calibri" pitchFamily="34" charset="0"/>
                <a:ea typeface="Calibri" pitchFamily="34" charset="-122"/>
                <a:cs typeface="Calibri" pitchFamily="34" charset="-120"/>
              </a:rPr>
              <a:t>Capability now leans on post-training RL and test-time compute — a 10T model is not automatically a leap</a:t>
            </a:r>
            <a:endParaRPr lang="en-US" sz="1200" dirty="0"/>
          </a:p>
          <a:p>
            <a:pPr marL="342900" indent="-342900">
              <a:buSzPct val="100000"/>
              <a:buChar char="•"/>
            </a:pPr>
            <a:r>
              <a:rPr lang="en-US" sz="1200" dirty="0">
                <a:solidFill>
                  <a:srgbClr val="C6D2E8"/>
                </a:solidFill>
                <a:latin typeface="Calibri" pitchFamily="34" charset="0"/>
                <a:ea typeface="Calibri" pitchFamily="34" charset="-122"/>
                <a:cs typeface="Calibri" pitchFamily="34" charset="-120"/>
              </a:rPr>
              <a:t>MoE blurs “size”: total vs active parameters differ ~5–10×</a:t>
            </a:r>
            <a:endParaRPr lang="en-US" sz="1200" dirty="0"/>
          </a:p>
        </p:txBody>
      </p:sp>
      <p:sp>
        <p:nvSpPr>
          <p:cNvPr id="17" name="Shape 15"/>
          <p:cNvSpPr/>
          <p:nvPr/>
        </p:nvSpPr>
        <p:spPr>
          <a:xfrm>
            <a:off x="502920" y="5742432"/>
            <a:ext cx="11183112" cy="548640"/>
          </a:xfrm>
          <a:prstGeom prst="roundRect">
            <a:avLst>
              <a:gd name="adj" fmla="val 15000"/>
            </a:avLst>
          </a:prstGeom>
          <a:solidFill>
            <a:srgbClr val="0E1830"/>
          </a:solidFill>
          <a:ln w="12700">
            <a:solidFill>
              <a:srgbClr val="26334F"/>
            </a:solidFill>
            <a:prstDash val="solid"/>
          </a:ln>
        </p:spPr>
      </p:sp>
      <p:sp>
        <p:nvSpPr>
          <p:cNvPr id="18" name="Text 16"/>
          <p:cNvSpPr/>
          <p:nvPr/>
        </p:nvSpPr>
        <p:spPr>
          <a:xfrm>
            <a:off x="777240" y="5742432"/>
            <a:ext cx="10698480" cy="548640"/>
          </a:xfrm>
          <a:prstGeom prst="rect">
            <a:avLst/>
          </a:prstGeom>
          <a:noFill/>
          <a:ln/>
        </p:spPr>
        <p:txBody>
          <a:bodyPr wrap="square" lIns="0" tIns="0" rIns="0" bIns="0" rtlCol="0" anchor="ctr"/>
          <a:lstStyle/>
          <a:p>
            <a:pPr indent="0" marL="0">
              <a:buNone/>
            </a:pPr>
            <a:r>
              <a:rPr lang="en-US" sz="1150" b="1" dirty="0">
                <a:solidFill>
                  <a:srgbClr val="C6D2E8"/>
                </a:solidFill>
                <a:latin typeface="Calibri" pitchFamily="34" charset="0"/>
                <a:ea typeface="Calibri" pitchFamily="34" charset="-122"/>
                <a:cs typeface="Calibri" pitchFamily="34" charset="-120"/>
              </a:rPr>
              <a:t>Recommended framing: </a:t>
            </a:r>
            <a:pPr indent="0" marL="0">
              <a:buNone/>
            </a:pPr>
            <a:r>
              <a:rPr lang="en-US" sz="1150" dirty="0">
                <a:solidFill>
                  <a:srgbClr val="8CA0C4"/>
                </a:solidFill>
                <a:latin typeface="Calibri" pitchFamily="34" charset="0"/>
                <a:ea typeface="Calibri" pitchFamily="34" charset="-122"/>
                <a:cs typeface="Calibri" pitchFamily="34" charset="-120"/>
              </a:rPr>
              <a:t>plan capacity against the 8–10T scenario; treat “another major capability leap” as plausible but unproven — and track capability benchmarks, not parameter rumors, as the leading indicator.</a:t>
            </a:r>
            <a:endParaRPr lang="en-US" sz="1150" dirty="0"/>
          </a:p>
        </p:txBody>
      </p:sp>
      <p:sp>
        <p:nvSpPr>
          <p:cNvPr id="19" name="Text 17"/>
          <p:cNvSpPr/>
          <p:nvPr/>
        </p:nvSpPr>
        <p:spPr>
          <a:xfrm>
            <a:off x="502920" y="6382512"/>
            <a:ext cx="11155680" cy="256032"/>
          </a:xfrm>
          <a:prstGeom prst="rect">
            <a:avLst/>
          </a:prstGeom>
          <a:noFill/>
          <a:ln/>
        </p:spPr>
        <p:txBody>
          <a:bodyPr wrap="square" lIns="0" tIns="0" rIns="0" bIns="0" rtlCol="0" anchor="ctr"/>
          <a:lstStyle/>
          <a:p>
            <a:pPr indent="0" marL="0">
              <a:buNone/>
            </a:pPr>
            <a:r>
              <a:rPr lang="en-US" sz="850" dirty="0">
                <a:solidFill>
                  <a:srgbClr val="6E7F9E"/>
                </a:solidFill>
                <a:latin typeface="Calibri" pitchFamily="34" charset="0"/>
                <a:ea typeface="Calibri" pitchFamily="34" charset="-122"/>
                <a:cs typeface="Calibri" pitchFamily="34" charset="-120"/>
              </a:rPr>
              <a:t>Sources: Epoch AI (compute-trend and power analyses); scenario sizing: this team’s working assumption, benchmarked against third-party estimates shown on slide 2.</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2026-08-25T23:00:51Z</dcterms:created>
  <dcterms:modified xsi:type="dcterms:W3CDTF">2026-08-25T23:00:51Z</dcterms:modified>
</cp:coreProperties>
</file>